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7"/>
  </p:notesMasterIdLst>
  <p:sldIdLst>
    <p:sldId id="256" r:id="rId2"/>
    <p:sldId id="298" r:id="rId3"/>
    <p:sldId id="297" r:id="rId4"/>
    <p:sldId id="257" r:id="rId5"/>
    <p:sldId id="299" r:id="rId6"/>
  </p:sldIdLst>
  <p:sldSz cx="9144000" cy="5143500" type="screen16x9"/>
  <p:notesSz cx="6858000" cy="9144000"/>
  <p:embeddedFontLst>
    <p:embeddedFont>
      <p:font typeface="Maven Pro" panose="020B0604020202020204" charset="0"/>
      <p:regular r:id="rId8"/>
      <p:bold r:id="rId9"/>
    </p:embeddedFont>
    <p:embeddedFont>
      <p:font typeface="Nunito Light" pitchFamily="2" charset="0"/>
      <p:regular r:id="rId10"/>
      <p:italic r:id="rId11"/>
    </p:embeddedFont>
    <p:embeddedFont>
      <p:font typeface="Share Tech" panose="020B0604020202020204" charset="0"/>
      <p:regular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C43256-C536-4501-9ACD-F8AB1FB75747}">
  <a:tblStyle styleId="{13C43256-C536-4501-9ACD-F8AB1FB7574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922"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8405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363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09"/>
        <p:cNvGrpSpPr/>
        <p:nvPr/>
      </p:nvGrpSpPr>
      <p:grpSpPr>
        <a:xfrm>
          <a:off x="0" y="0"/>
          <a:ext cx="0" cy="0"/>
          <a:chOff x="0" y="0"/>
          <a:chExt cx="0" cy="0"/>
        </a:xfrm>
      </p:grpSpPr>
      <p:sp>
        <p:nvSpPr>
          <p:cNvPr id="410" name="Google Shape;410;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1" name="Google Shape;411;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2" name="Google Shape;412;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3" name="Google Shape;413;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6" r:id="rId3"/>
    <p:sldLayoutId id="2147483667" r:id="rId4"/>
    <p:sldLayoutId id="21474836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5"/>
          <p:cNvSpPr txBox="1">
            <a:spLocks noGrp="1"/>
          </p:cNvSpPr>
          <p:nvPr>
            <p:ph type="subTitle" idx="1"/>
          </p:nvPr>
        </p:nvSpPr>
        <p:spPr>
          <a:xfrm>
            <a:off x="2884003" y="2867643"/>
            <a:ext cx="3295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dirty="0">
                <a:latin typeface="Maven Pro" panose="020B0604020202020204" charset="0"/>
              </a:rPr>
              <a:t>黃偉智 </a:t>
            </a:r>
            <a:r>
              <a:rPr lang="en-US" altLang="zh-CN" sz="2000" dirty="0">
                <a:latin typeface="Maven Pro" panose="020B0604020202020204" charset="0"/>
              </a:rPr>
              <a:t>– B11107035</a:t>
            </a:r>
            <a:endParaRPr sz="2000" dirty="0">
              <a:latin typeface="Maven Pro" panose="020B0604020202020204" charset="0"/>
            </a:endParaRPr>
          </a:p>
        </p:txBody>
      </p:sp>
      <p:sp>
        <p:nvSpPr>
          <p:cNvPr id="436" name="Google Shape;436;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rgbClr val="E898A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rgbClr val="00CFCC"/>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5969504" y="3118803"/>
            <a:ext cx="119993" cy="119966"/>
          </a:xfrm>
          <a:custGeom>
            <a:avLst/>
            <a:gdLst/>
            <a:ahLst/>
            <a:cxnLst/>
            <a:rect l="l" t="t" r="r" b="b"/>
            <a:pathLst>
              <a:path w="4579" h="4578" extrusionOk="0">
                <a:moveTo>
                  <a:pt x="1" y="0"/>
                </a:moveTo>
                <a:lnTo>
                  <a:pt x="1" y="4578"/>
                </a:lnTo>
                <a:lnTo>
                  <a:pt x="4578" y="4578"/>
                </a:lnTo>
                <a:lnTo>
                  <a:pt x="4578" y="0"/>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5"/>
          <p:cNvGrpSpPr/>
          <p:nvPr/>
        </p:nvGrpSpPr>
        <p:grpSpPr>
          <a:xfrm>
            <a:off x="6232314" y="3696331"/>
            <a:ext cx="121434" cy="1073147"/>
            <a:chOff x="6232314" y="3696331"/>
            <a:chExt cx="121434" cy="1073147"/>
          </a:xfrm>
        </p:grpSpPr>
        <p:sp>
          <p:nvSpPr>
            <p:cNvPr id="443" name="Google Shape;443;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rgbClr val="E898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5"/>
          <p:cNvGrpSpPr/>
          <p:nvPr/>
        </p:nvGrpSpPr>
        <p:grpSpPr>
          <a:xfrm>
            <a:off x="6780548" y="337714"/>
            <a:ext cx="133252" cy="1952377"/>
            <a:chOff x="6780548" y="337714"/>
            <a:chExt cx="133252" cy="1952377"/>
          </a:xfrm>
        </p:grpSpPr>
        <p:sp>
          <p:nvSpPr>
            <p:cNvPr id="446" name="Google Shape;446;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rgbClr val="FF997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5"/>
          <p:cNvGrpSpPr/>
          <p:nvPr/>
        </p:nvGrpSpPr>
        <p:grpSpPr>
          <a:xfrm>
            <a:off x="1608717" y="1280046"/>
            <a:ext cx="199237" cy="2828935"/>
            <a:chOff x="1608717" y="1280046"/>
            <a:chExt cx="199237" cy="2828935"/>
          </a:xfrm>
        </p:grpSpPr>
        <p:sp>
          <p:nvSpPr>
            <p:cNvPr id="449" name="Google Shape;449;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25"/>
          <p:cNvGrpSpPr/>
          <p:nvPr/>
        </p:nvGrpSpPr>
        <p:grpSpPr>
          <a:xfrm>
            <a:off x="8008096" y="2108910"/>
            <a:ext cx="199001" cy="2139769"/>
            <a:chOff x="8008096" y="2108910"/>
            <a:chExt cx="199001" cy="2139769"/>
          </a:xfrm>
        </p:grpSpPr>
        <p:sp>
          <p:nvSpPr>
            <p:cNvPr id="455" name="Google Shape;455;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5"/>
          <p:cNvGrpSpPr/>
          <p:nvPr/>
        </p:nvGrpSpPr>
        <p:grpSpPr>
          <a:xfrm>
            <a:off x="4472500" y="3928605"/>
            <a:ext cx="199001" cy="867198"/>
            <a:chOff x="4475150" y="4052605"/>
            <a:chExt cx="199001" cy="867198"/>
          </a:xfrm>
        </p:grpSpPr>
        <p:sp>
          <p:nvSpPr>
            <p:cNvPr id="458" name="Google Shape;458;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EB618136-FC4B-40CE-8F0D-796D6EE60250}"/>
              </a:ext>
            </a:extLst>
          </p:cNvPr>
          <p:cNvSpPr txBox="1"/>
          <p:nvPr/>
        </p:nvSpPr>
        <p:spPr>
          <a:xfrm>
            <a:off x="2619835" y="1388773"/>
            <a:ext cx="3713407" cy="338554"/>
          </a:xfrm>
          <a:prstGeom prst="rect">
            <a:avLst/>
          </a:prstGeom>
          <a:noFill/>
        </p:spPr>
        <p:txBody>
          <a:bodyPr wrap="square" rtlCol="0">
            <a:spAutoFit/>
          </a:bodyPr>
          <a:lstStyle/>
          <a:p>
            <a:pPr algn="ctr"/>
            <a:r>
              <a:rPr lang="en-US" sz="1600" dirty="0">
                <a:solidFill>
                  <a:schemeClr val="bg1"/>
                </a:solidFill>
                <a:latin typeface="Maven Pro" panose="020B0604020202020204" charset="0"/>
              </a:rPr>
              <a:t>Python</a:t>
            </a:r>
            <a:r>
              <a:rPr lang="zh-CN" altLang="en-US" sz="1600" dirty="0">
                <a:solidFill>
                  <a:schemeClr val="bg1"/>
                </a:solidFill>
                <a:latin typeface="Maven Pro" panose="020B0604020202020204" charset="0"/>
              </a:rPr>
              <a:t> </a:t>
            </a:r>
            <a:r>
              <a:rPr lang="en-US" altLang="zh-CN" sz="1600" dirty="0">
                <a:solidFill>
                  <a:schemeClr val="bg1"/>
                </a:solidFill>
                <a:latin typeface="Maven Pro" panose="020B0604020202020204" charset="0"/>
              </a:rPr>
              <a:t>Midterm</a:t>
            </a:r>
            <a:r>
              <a:rPr lang="zh-CN" altLang="en-US" sz="1600" dirty="0">
                <a:solidFill>
                  <a:schemeClr val="bg1"/>
                </a:solidFill>
                <a:latin typeface="Maven Pro" panose="020B0604020202020204" charset="0"/>
              </a:rPr>
              <a:t> </a:t>
            </a:r>
            <a:r>
              <a:rPr lang="en-US" altLang="zh-CN" sz="1600" dirty="0">
                <a:solidFill>
                  <a:schemeClr val="bg1"/>
                </a:solidFill>
                <a:latin typeface="Maven Pro" panose="020B0604020202020204" charset="0"/>
              </a:rPr>
              <a:t>Project</a:t>
            </a:r>
            <a:endParaRPr lang="id-ID" sz="1600" dirty="0">
              <a:solidFill>
                <a:schemeClr val="bg1"/>
              </a:solidFill>
              <a:latin typeface="Maven Pro" panose="020B0604020202020204" charset="0"/>
            </a:endParaRPr>
          </a:p>
        </p:txBody>
      </p:sp>
      <p:sp>
        <p:nvSpPr>
          <p:cNvPr id="435" name="Google Shape;435;p25"/>
          <p:cNvSpPr txBox="1">
            <a:spLocks noGrp="1"/>
          </p:cNvSpPr>
          <p:nvPr>
            <p:ph type="ctrTitle"/>
          </p:nvPr>
        </p:nvSpPr>
        <p:spPr>
          <a:xfrm>
            <a:off x="1032290" y="1951155"/>
            <a:ext cx="7009344" cy="98867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600" dirty="0"/>
              <a:t>TIC</a:t>
            </a:r>
            <a:r>
              <a:rPr lang="en" sz="6600" dirty="0"/>
              <a:t>-</a:t>
            </a:r>
            <a:r>
              <a:rPr lang="en" sz="6600" dirty="0">
                <a:solidFill>
                  <a:schemeClr val="accent2"/>
                </a:solidFill>
              </a:rPr>
              <a:t>TAC-</a:t>
            </a:r>
            <a:r>
              <a:rPr lang="en" sz="6600" dirty="0"/>
              <a:t>TOE GAME</a:t>
            </a:r>
            <a:endParaRPr sz="6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6"/>
          <p:cNvSpPr txBox="1">
            <a:spLocks noGrp="1"/>
          </p:cNvSpPr>
          <p:nvPr>
            <p:ph type="body" idx="1"/>
          </p:nvPr>
        </p:nvSpPr>
        <p:spPr>
          <a:xfrm>
            <a:off x="597375" y="1063525"/>
            <a:ext cx="4669871" cy="3786900"/>
          </a:xfrm>
          <a:prstGeom prst="rect">
            <a:avLst/>
          </a:prstGeom>
        </p:spPr>
        <p:txBody>
          <a:bodyPr spcFirstLastPara="1" wrap="square" lIns="91425" tIns="91425" rIns="91425" bIns="91425" anchor="t" anchorCtr="0">
            <a:noAutofit/>
          </a:bodyPr>
          <a:lstStyle/>
          <a:p>
            <a:pPr marL="0" lvl="0" indent="0" algn="just" rtl="0">
              <a:lnSpc>
                <a:spcPct val="100000"/>
              </a:lnSpc>
              <a:spcBef>
                <a:spcPts val="1600"/>
              </a:spcBef>
              <a:spcAft>
                <a:spcPts val="1600"/>
              </a:spcAft>
              <a:buNone/>
            </a:pPr>
            <a:r>
              <a:rPr lang="zh-TW" altLang="en-US" sz="2000" dirty="0"/>
              <a:t>從小我就對玩遊戲很感興趣，所以我也很好奇遊戲是如何製作的。 我決定將井字遊戲作為我的中期項目，以便更多地了解製作該遊戲所涉及的算法和編程。</a:t>
            </a:r>
            <a:br>
              <a:rPr lang="en-US" altLang="zh-TW" sz="2000" dirty="0"/>
            </a:br>
            <a:br>
              <a:rPr lang="en-US" altLang="zh-TW" sz="2000" dirty="0"/>
            </a:br>
            <a:r>
              <a:rPr lang="en-US" sz="1600" dirty="0">
                <a:solidFill>
                  <a:schemeClr val="accent5">
                    <a:lumMod val="75000"/>
                  </a:schemeClr>
                </a:solidFill>
              </a:rPr>
              <a:t>I've been interested in playing games since I was a kid. Because I like playing games, I was also curious about how games were made. Then, I decided to make Tic-Tac-Toe game as my midterm project so I can learn about the algorithms and programming involved in making this game.</a:t>
            </a:r>
          </a:p>
        </p:txBody>
      </p:sp>
      <p:sp>
        <p:nvSpPr>
          <p:cNvPr id="466" name="Google Shape;466;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sz="3200" b="1" dirty="0"/>
              <a:t>動機 </a:t>
            </a:r>
            <a:r>
              <a:rPr lang="en-US" altLang="zh-CN" sz="3200" b="1" dirty="0">
                <a:solidFill>
                  <a:schemeClr val="accent5">
                    <a:lumMod val="75000"/>
                  </a:schemeClr>
                </a:solidFill>
              </a:rPr>
              <a:t>Motivation</a:t>
            </a:r>
            <a:endParaRPr sz="3200" b="1" dirty="0">
              <a:solidFill>
                <a:schemeClr val="accent5">
                  <a:lumMod val="75000"/>
                </a:schemeClr>
              </a:solidFill>
            </a:endParaRPr>
          </a:p>
        </p:txBody>
      </p:sp>
      <p:pic>
        <p:nvPicPr>
          <p:cNvPr id="1026" name="Picture 2" descr="Get Tic-Tac-Toe Master - Microsoft Store">
            <a:extLst>
              <a:ext uri="{FF2B5EF4-FFF2-40B4-BE49-F238E27FC236}">
                <a16:creationId xmlns:a16="http://schemas.microsoft.com/office/drawing/2014/main" id="{3A1A51B4-B603-47BC-B079-07ED12834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6222" y="152822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721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6"/>
          <p:cNvSpPr txBox="1">
            <a:spLocks noGrp="1"/>
          </p:cNvSpPr>
          <p:nvPr>
            <p:ph type="body" idx="1"/>
          </p:nvPr>
        </p:nvSpPr>
        <p:spPr>
          <a:xfrm>
            <a:off x="618825" y="837716"/>
            <a:ext cx="4412932" cy="3985046"/>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1600"/>
              </a:spcAft>
              <a:buNone/>
            </a:pPr>
            <a:r>
              <a:rPr lang="zh-TW" altLang="en-US" sz="1600" dirty="0">
                <a:latin typeface="Maven Pro" panose="020B0604020202020204" charset="0"/>
              </a:rPr>
              <a:t>當程序運行時，會彈出另一個窗口，</a:t>
            </a:r>
            <a:r>
              <a:rPr lang="zh-CN" altLang="en-US" sz="1600" dirty="0">
                <a:latin typeface="Maven Pro" panose="020B0604020202020204" charset="0"/>
              </a:rPr>
              <a:t>井字</a:t>
            </a:r>
            <a:r>
              <a:rPr lang="zh-TW" altLang="en-US" sz="1600" dirty="0">
                <a:latin typeface="Maven Pro" panose="020B0604020202020204" charset="0"/>
              </a:rPr>
              <a:t>遊戲將在該窗口內。</a:t>
            </a:r>
            <a:br>
              <a:rPr lang="en-US" altLang="zh-TW" sz="1600" dirty="0">
                <a:latin typeface="Maven Pro" panose="020B0604020202020204" charset="0"/>
              </a:rPr>
            </a:br>
            <a:r>
              <a:rPr lang="en-US" sz="1400" dirty="0">
                <a:solidFill>
                  <a:schemeClr val="accent5">
                    <a:lumMod val="75000"/>
                  </a:schemeClr>
                </a:solidFill>
                <a:latin typeface="Maven Pro" panose="020B0604020202020204" charset="0"/>
              </a:rPr>
              <a:t>When the program runs, another window will pop up and the Tic-Tac-Toe game will be inside that window.</a:t>
            </a:r>
            <a:r>
              <a:rPr lang="zh-TW" altLang="en-US" sz="1400" dirty="0">
                <a:solidFill>
                  <a:schemeClr val="accent5">
                    <a:lumMod val="75000"/>
                  </a:schemeClr>
                </a:solidFill>
                <a:latin typeface="Maven Pro" panose="020B0604020202020204" charset="0"/>
              </a:rPr>
              <a:t> </a:t>
            </a:r>
            <a:br>
              <a:rPr lang="en-US" altLang="zh-TW" sz="1600" dirty="0">
                <a:latin typeface="Maven Pro" panose="020B0604020202020204" charset="0"/>
              </a:rPr>
            </a:br>
            <a:br>
              <a:rPr lang="en-US" altLang="zh-TW" sz="1600" dirty="0">
                <a:latin typeface="Maven Pro" panose="020B0604020202020204" charset="0"/>
              </a:rPr>
            </a:br>
            <a:r>
              <a:rPr lang="zh-TW" altLang="en-US" sz="1600" dirty="0">
                <a:latin typeface="Maven Pro" panose="020B0604020202020204" charset="0"/>
              </a:rPr>
              <a:t>這是一款 </a:t>
            </a:r>
            <a:r>
              <a:rPr lang="en-US" altLang="zh-TW" sz="1600" dirty="0">
                <a:latin typeface="Maven Pro" panose="020B0604020202020204" charset="0"/>
              </a:rPr>
              <a:t>2 </a:t>
            </a:r>
            <a:r>
              <a:rPr lang="zh-TW" altLang="en-US" sz="1600" dirty="0">
                <a:latin typeface="Maven Pro" panose="020B0604020202020204" charset="0"/>
              </a:rPr>
              <a:t>人遊戲。 遊戲在 </a:t>
            </a:r>
            <a:r>
              <a:rPr lang="en-US" altLang="zh-TW" sz="1600" dirty="0">
                <a:latin typeface="Maven Pro" panose="020B0604020202020204" charset="0"/>
              </a:rPr>
              <a:t>3 </a:t>
            </a:r>
            <a:r>
              <a:rPr lang="zh-TW" altLang="en-US" sz="1600" dirty="0">
                <a:latin typeface="Maven Pro" panose="020B0604020202020204" charset="0"/>
              </a:rPr>
              <a:t>乘 </a:t>
            </a:r>
            <a:r>
              <a:rPr lang="en-US" altLang="zh-TW" sz="1600" dirty="0">
                <a:latin typeface="Maven Pro" panose="020B0604020202020204" charset="0"/>
              </a:rPr>
              <a:t>3 </a:t>
            </a:r>
            <a:r>
              <a:rPr lang="zh-TW" altLang="en-US" sz="1600" dirty="0">
                <a:latin typeface="Maven Pro" panose="020B0604020202020204" charset="0"/>
              </a:rPr>
              <a:t>格的網格上進行。 玩家輪流將他們的標記（</a:t>
            </a:r>
            <a:r>
              <a:rPr lang="en-US" altLang="zh-TW" sz="1600" dirty="0">
                <a:latin typeface="Maven Pro" panose="020B0604020202020204" charset="0"/>
              </a:rPr>
              <a:t>X </a:t>
            </a:r>
            <a:r>
              <a:rPr lang="zh-TW" altLang="en-US" sz="1600" dirty="0">
                <a:latin typeface="Maven Pro" panose="020B0604020202020204" charset="0"/>
              </a:rPr>
              <a:t>和 </a:t>
            </a:r>
            <a:r>
              <a:rPr lang="en-US" altLang="zh-TW" sz="1600" dirty="0">
                <a:latin typeface="Maven Pro" panose="020B0604020202020204" charset="0"/>
              </a:rPr>
              <a:t>O</a:t>
            </a:r>
            <a:r>
              <a:rPr lang="zh-TW" altLang="en-US" sz="1600" dirty="0">
                <a:latin typeface="Maven Pro" panose="020B0604020202020204" charset="0"/>
              </a:rPr>
              <a:t>）放在空白方塊中。 第一個連續獲得 </a:t>
            </a:r>
            <a:r>
              <a:rPr lang="en-US" altLang="zh-TW" sz="1600" dirty="0">
                <a:latin typeface="Maven Pro" panose="020B0604020202020204" charset="0"/>
              </a:rPr>
              <a:t>3 </a:t>
            </a:r>
            <a:r>
              <a:rPr lang="zh-TW" altLang="en-US" sz="1600" dirty="0">
                <a:latin typeface="Maven Pro" panose="020B0604020202020204" charset="0"/>
              </a:rPr>
              <a:t>個標記的玩家（向上、向下、交叉或對角線）是獲勝者。</a:t>
            </a:r>
            <a:br>
              <a:rPr lang="en-US" altLang="zh-TW" sz="1600" dirty="0">
                <a:latin typeface="Maven Pro" panose="020B0604020202020204" charset="0"/>
              </a:rPr>
            </a:br>
            <a:r>
              <a:rPr lang="en-US" sz="1400" dirty="0">
                <a:solidFill>
                  <a:schemeClr val="accent5">
                    <a:lumMod val="75000"/>
                  </a:schemeClr>
                </a:solidFill>
                <a:latin typeface="Maven Pro" panose="020B0604020202020204" charset="0"/>
              </a:rPr>
              <a:t>This is a 2-player game. The game is played on a grid that's 3 squares by 3 squares. Players take turns putting their marks (X and O) in empty squares. The first player to get 3 of their marks in a row (up, down, across, or diagonally) is the winner.</a:t>
            </a:r>
            <a:endParaRPr lang="en-US" sz="1600" dirty="0">
              <a:solidFill>
                <a:schemeClr val="accent5">
                  <a:lumMod val="75000"/>
                </a:schemeClr>
              </a:solidFill>
              <a:latin typeface="Maven Pro" panose="020B0604020202020204" charset="0"/>
            </a:endParaRPr>
          </a:p>
        </p:txBody>
      </p:sp>
      <p:sp>
        <p:nvSpPr>
          <p:cNvPr id="466" name="Google Shape;466;p26"/>
          <p:cNvSpPr txBox="1">
            <a:spLocks noGrp="1"/>
          </p:cNvSpPr>
          <p:nvPr>
            <p:ph type="ctrTitle"/>
          </p:nvPr>
        </p:nvSpPr>
        <p:spPr>
          <a:xfrm>
            <a:off x="618825" y="320738"/>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sz="3200" b="1" dirty="0"/>
              <a:t>功能</a:t>
            </a:r>
            <a:r>
              <a:rPr lang="en-US" altLang="zh-CN" sz="3200" b="1" dirty="0"/>
              <a:t> </a:t>
            </a:r>
            <a:r>
              <a:rPr lang="en-US" altLang="zh-CN" sz="3200" b="1" dirty="0">
                <a:solidFill>
                  <a:schemeClr val="accent5">
                    <a:lumMod val="75000"/>
                  </a:schemeClr>
                </a:solidFill>
              </a:rPr>
              <a:t>Functions</a:t>
            </a:r>
            <a:endParaRPr sz="3200" b="1" dirty="0">
              <a:solidFill>
                <a:schemeClr val="accent5">
                  <a:lumMod val="75000"/>
                </a:schemeClr>
              </a:solidFill>
            </a:endParaRPr>
          </a:p>
        </p:txBody>
      </p:sp>
      <p:pic>
        <p:nvPicPr>
          <p:cNvPr id="3" name="Picture 2">
            <a:extLst>
              <a:ext uri="{FF2B5EF4-FFF2-40B4-BE49-F238E27FC236}">
                <a16:creationId xmlns:a16="http://schemas.microsoft.com/office/drawing/2014/main" id="{4E56E647-A0E3-4B64-934D-9561F196C917}"/>
              </a:ext>
            </a:extLst>
          </p:cNvPr>
          <p:cNvPicPr>
            <a:picLocks noChangeAspect="1"/>
          </p:cNvPicPr>
          <p:nvPr/>
        </p:nvPicPr>
        <p:blipFill>
          <a:blip r:embed="rId3"/>
          <a:stretch>
            <a:fillRect/>
          </a:stretch>
        </p:blipFill>
        <p:spPr>
          <a:xfrm>
            <a:off x="5346525" y="411675"/>
            <a:ext cx="3527262" cy="4440697"/>
          </a:xfrm>
          <a:prstGeom prst="rect">
            <a:avLst/>
          </a:prstGeom>
        </p:spPr>
      </p:pic>
    </p:spTree>
    <p:extLst>
      <p:ext uri="{BB962C8B-B14F-4D97-AF65-F5344CB8AC3E}">
        <p14:creationId xmlns:p14="http://schemas.microsoft.com/office/powerpoint/2010/main" val="3460369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7" name="Google Shape;466;p26">
            <a:extLst>
              <a:ext uri="{FF2B5EF4-FFF2-40B4-BE49-F238E27FC236}">
                <a16:creationId xmlns:a16="http://schemas.microsoft.com/office/drawing/2014/main" id="{FEDE3EAA-E113-4D83-AA3A-EBFCE775ECC9}"/>
              </a:ext>
            </a:extLst>
          </p:cNvPr>
          <p:cNvSpPr txBox="1">
            <a:spLocks noGrp="1"/>
          </p:cNvSpPr>
          <p:nvPr>
            <p:ph type="ctrTitle"/>
          </p:nvPr>
        </p:nvSpPr>
        <p:spPr>
          <a:xfrm>
            <a:off x="278758" y="351219"/>
            <a:ext cx="5252983"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sz="2800" b="1" dirty="0"/>
              <a:t>程式說明 </a:t>
            </a:r>
            <a:r>
              <a:rPr lang="en-US" altLang="zh-CN" sz="2800" b="1" dirty="0">
                <a:solidFill>
                  <a:schemeClr val="accent5">
                    <a:lumMod val="75000"/>
                  </a:schemeClr>
                </a:solidFill>
              </a:rPr>
              <a:t>Program Description</a:t>
            </a:r>
            <a:endParaRPr sz="2800" b="1" dirty="0">
              <a:solidFill>
                <a:schemeClr val="accent5">
                  <a:lumMod val="75000"/>
                </a:schemeClr>
              </a:solidFill>
            </a:endParaRPr>
          </a:p>
        </p:txBody>
      </p:sp>
      <p:pic>
        <p:nvPicPr>
          <p:cNvPr id="5" name="Picture 4">
            <a:extLst>
              <a:ext uri="{FF2B5EF4-FFF2-40B4-BE49-F238E27FC236}">
                <a16:creationId xmlns:a16="http://schemas.microsoft.com/office/drawing/2014/main" id="{7453024B-39D8-4B39-8DB7-2943DBC9B9E9}"/>
              </a:ext>
            </a:extLst>
          </p:cNvPr>
          <p:cNvPicPr>
            <a:picLocks noChangeAspect="1"/>
          </p:cNvPicPr>
          <p:nvPr/>
        </p:nvPicPr>
        <p:blipFill>
          <a:blip r:embed="rId3"/>
          <a:stretch>
            <a:fillRect/>
          </a:stretch>
        </p:blipFill>
        <p:spPr>
          <a:xfrm>
            <a:off x="5603533" y="264207"/>
            <a:ext cx="2652516" cy="1798316"/>
          </a:xfrm>
          <a:prstGeom prst="rect">
            <a:avLst/>
          </a:prstGeom>
        </p:spPr>
      </p:pic>
      <p:sp>
        <p:nvSpPr>
          <p:cNvPr id="10" name="Google Shape;465;p26">
            <a:extLst>
              <a:ext uri="{FF2B5EF4-FFF2-40B4-BE49-F238E27FC236}">
                <a16:creationId xmlns:a16="http://schemas.microsoft.com/office/drawing/2014/main" id="{72A20FA8-B354-4DEC-9A6F-BD6549729A2C}"/>
              </a:ext>
            </a:extLst>
          </p:cNvPr>
          <p:cNvSpPr txBox="1">
            <a:spLocks noGrp="1"/>
          </p:cNvSpPr>
          <p:nvPr>
            <p:ph type="body" idx="1"/>
          </p:nvPr>
        </p:nvSpPr>
        <p:spPr>
          <a:xfrm>
            <a:off x="188926" y="731930"/>
            <a:ext cx="5070763" cy="2661186"/>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1600"/>
              </a:spcAft>
              <a:buNone/>
            </a:pPr>
            <a:r>
              <a:rPr lang="zh-CN" altLang="en-US" sz="1300" dirty="0">
                <a:latin typeface="Maven Pro" panose="020B0604020202020204" charset="0"/>
              </a:rPr>
              <a:t>程式中做了</a:t>
            </a:r>
            <a:r>
              <a:rPr lang="en-US" altLang="zh-CN" sz="1300" dirty="0">
                <a:latin typeface="Maven Pro" panose="020B0604020202020204" charset="0"/>
              </a:rPr>
              <a:t>4</a:t>
            </a:r>
            <a:r>
              <a:rPr lang="zh-CN" altLang="en-US" sz="1300" dirty="0">
                <a:latin typeface="Maven Pro" panose="020B0604020202020204" charset="0"/>
              </a:rPr>
              <a:t>個函數：</a:t>
            </a:r>
            <a:br>
              <a:rPr lang="en-US" altLang="zh-CN" sz="1300" dirty="0">
                <a:latin typeface="Maven Pro" panose="020B0604020202020204" charset="0"/>
              </a:rPr>
            </a:br>
            <a:r>
              <a:rPr lang="en-US" altLang="zh-CN" sz="1300" dirty="0">
                <a:latin typeface="Maven Pro" panose="020B0604020202020204" charset="0"/>
              </a:rPr>
              <a:t>1. </a:t>
            </a:r>
            <a:r>
              <a:rPr lang="id-ID" altLang="zh-CN" sz="1300" dirty="0" err="1">
                <a:latin typeface="Maven Pro" panose="020B0604020202020204" charset="0"/>
              </a:rPr>
              <a:t>empty_spaces</a:t>
            </a:r>
            <a:r>
              <a:rPr lang="id-ID" altLang="zh-CN" sz="1300" dirty="0">
                <a:latin typeface="Maven Pro" panose="020B0604020202020204" charset="0"/>
              </a:rPr>
              <a:t>()</a:t>
            </a:r>
            <a:r>
              <a:rPr lang="zh-CN" altLang="id-ID" sz="1300" dirty="0">
                <a:latin typeface="Maven Pro" panose="020B0604020202020204" charset="0"/>
              </a:rPr>
              <a:t>：</a:t>
            </a:r>
            <a:r>
              <a:rPr lang="zh-CN" altLang="en-US" sz="1300" dirty="0">
                <a:latin typeface="Maven Pro" panose="020B0604020202020204" charset="0"/>
              </a:rPr>
              <a:t>計算剩下多少個空方塊。</a:t>
            </a:r>
            <a:br>
              <a:rPr lang="en-US" altLang="zh-CN" sz="1300" dirty="0">
                <a:latin typeface="Maven Pro" panose="020B0604020202020204" charset="0"/>
              </a:rPr>
            </a:br>
            <a:r>
              <a:rPr lang="en-US" altLang="zh-CN" sz="1300" dirty="0">
                <a:latin typeface="Maven Pro" panose="020B0604020202020204" charset="0"/>
              </a:rPr>
              <a:t>2. </a:t>
            </a:r>
            <a:r>
              <a:rPr lang="id-ID" altLang="zh-CN" sz="1300" dirty="0" err="1">
                <a:latin typeface="Maven Pro" panose="020B0604020202020204" charset="0"/>
              </a:rPr>
              <a:t>check_winner</a:t>
            </a:r>
            <a:r>
              <a:rPr lang="id-ID" altLang="zh-CN" sz="1300" dirty="0">
                <a:latin typeface="Maven Pro" panose="020B0604020202020204" charset="0"/>
              </a:rPr>
              <a:t>()</a:t>
            </a:r>
            <a:r>
              <a:rPr lang="zh-CN" altLang="id-ID" sz="1300" dirty="0">
                <a:latin typeface="Maven Pro" panose="020B0604020202020204" charset="0"/>
              </a:rPr>
              <a:t>：</a:t>
            </a:r>
            <a:r>
              <a:rPr lang="zh-CN" altLang="en-US" sz="1300" dirty="0">
                <a:latin typeface="Maven Pro" panose="020B0604020202020204" charset="0"/>
              </a:rPr>
              <a:t>檢查遊戲是否已經有贏家。</a:t>
            </a:r>
            <a:br>
              <a:rPr lang="en-US" altLang="zh-CN" sz="1300" dirty="0">
                <a:latin typeface="Maven Pro" panose="020B0604020202020204" charset="0"/>
              </a:rPr>
            </a:br>
            <a:r>
              <a:rPr lang="en-US" altLang="zh-CN" sz="1300" dirty="0">
                <a:latin typeface="Maven Pro" panose="020B0604020202020204" charset="0"/>
              </a:rPr>
              <a:t>3. </a:t>
            </a:r>
            <a:r>
              <a:rPr lang="id-ID" altLang="zh-CN" sz="1300" dirty="0" err="1">
                <a:latin typeface="Maven Pro" panose="020B0604020202020204" charset="0"/>
              </a:rPr>
              <a:t>next_turn</a:t>
            </a:r>
            <a:r>
              <a:rPr lang="id-ID" altLang="zh-CN" sz="1300" dirty="0">
                <a:latin typeface="Maven Pro" panose="020B0604020202020204" charset="0"/>
              </a:rPr>
              <a:t>()</a:t>
            </a:r>
            <a:r>
              <a:rPr lang="zh-CN" altLang="id-ID" sz="1300" dirty="0">
                <a:latin typeface="Maven Pro" panose="020B0604020202020204" charset="0"/>
              </a:rPr>
              <a:t>：</a:t>
            </a:r>
            <a:r>
              <a:rPr lang="zh-CN" altLang="en-US" sz="1300" dirty="0">
                <a:latin typeface="Maven Pro" panose="020B0604020202020204" charset="0"/>
              </a:rPr>
              <a:t>給出遊戲中玩家的下一個回合。</a:t>
            </a:r>
            <a:br>
              <a:rPr lang="en-US" altLang="zh-CN" sz="1300" dirty="0">
                <a:latin typeface="Maven Pro" panose="020B0604020202020204" charset="0"/>
              </a:rPr>
            </a:br>
            <a:r>
              <a:rPr lang="en-US" altLang="zh-CN" sz="1300" dirty="0">
                <a:latin typeface="Maven Pro" panose="020B0604020202020204" charset="0"/>
              </a:rPr>
              <a:t>4. </a:t>
            </a:r>
            <a:r>
              <a:rPr lang="id-ID" altLang="zh-CN" sz="1300" dirty="0" err="1">
                <a:latin typeface="Maven Pro" panose="020B0604020202020204" charset="0"/>
              </a:rPr>
              <a:t>restart</a:t>
            </a:r>
            <a:r>
              <a:rPr lang="id-ID" altLang="zh-CN" sz="1300" dirty="0">
                <a:latin typeface="Maven Pro" panose="020B0604020202020204" charset="0"/>
              </a:rPr>
              <a:t>()</a:t>
            </a:r>
            <a:r>
              <a:rPr lang="zh-CN" altLang="id-ID" sz="1300" dirty="0">
                <a:latin typeface="Maven Pro" panose="020B0604020202020204" charset="0"/>
              </a:rPr>
              <a:t>：</a:t>
            </a:r>
            <a:r>
              <a:rPr lang="zh-CN" altLang="en-US" sz="1300" dirty="0">
                <a:latin typeface="Maven Pro" panose="020B0604020202020204" charset="0"/>
              </a:rPr>
              <a:t>開始新一輪的遊戲。</a:t>
            </a:r>
            <a:br>
              <a:rPr lang="en-US" altLang="zh-CN" sz="1300" dirty="0">
                <a:latin typeface="Maven Pro" panose="020B0604020202020204" charset="0"/>
              </a:rPr>
            </a:br>
            <a:r>
              <a:rPr lang="en-US" sz="1300" dirty="0">
                <a:solidFill>
                  <a:schemeClr val="accent5">
                    <a:lumMod val="75000"/>
                  </a:schemeClr>
                </a:solidFill>
                <a:latin typeface="Maven Pro" panose="020B0604020202020204" charset="0"/>
              </a:rPr>
              <a:t>There are 4 functions made in the program:</a:t>
            </a:r>
            <a:br>
              <a:rPr lang="en-US" sz="1300" dirty="0">
                <a:solidFill>
                  <a:schemeClr val="accent5">
                    <a:lumMod val="75000"/>
                  </a:schemeClr>
                </a:solidFill>
                <a:latin typeface="Maven Pro" panose="020B0604020202020204" charset="0"/>
              </a:rPr>
            </a:br>
            <a:r>
              <a:rPr lang="en-US" sz="1300" dirty="0">
                <a:solidFill>
                  <a:schemeClr val="accent5">
                    <a:lumMod val="75000"/>
                  </a:schemeClr>
                </a:solidFill>
                <a:latin typeface="Maven Pro" panose="020B0604020202020204" charset="0"/>
              </a:rPr>
              <a:t>1. </a:t>
            </a:r>
            <a:r>
              <a:rPr lang="en-US" sz="1300" dirty="0" err="1">
                <a:solidFill>
                  <a:schemeClr val="accent5">
                    <a:lumMod val="75000"/>
                  </a:schemeClr>
                </a:solidFill>
                <a:latin typeface="Maven Pro" panose="020B0604020202020204" charset="0"/>
              </a:rPr>
              <a:t>empty_spaces</a:t>
            </a:r>
            <a:r>
              <a:rPr lang="en-US" sz="1300" dirty="0">
                <a:solidFill>
                  <a:schemeClr val="accent5">
                    <a:lumMod val="75000"/>
                  </a:schemeClr>
                </a:solidFill>
                <a:latin typeface="Maven Pro" panose="020B0604020202020204" charset="0"/>
              </a:rPr>
              <a:t>(): count how many empty squares are left.</a:t>
            </a:r>
            <a:br>
              <a:rPr lang="en-US" sz="1300" dirty="0">
                <a:solidFill>
                  <a:schemeClr val="accent5">
                    <a:lumMod val="75000"/>
                  </a:schemeClr>
                </a:solidFill>
                <a:latin typeface="Maven Pro" panose="020B0604020202020204" charset="0"/>
              </a:rPr>
            </a:br>
            <a:r>
              <a:rPr lang="en-US" sz="1300" dirty="0">
                <a:solidFill>
                  <a:schemeClr val="accent5">
                    <a:lumMod val="75000"/>
                  </a:schemeClr>
                </a:solidFill>
                <a:latin typeface="Maven Pro" panose="020B0604020202020204" charset="0"/>
              </a:rPr>
              <a:t>2. </a:t>
            </a:r>
            <a:r>
              <a:rPr lang="en-US" sz="1300" dirty="0" err="1">
                <a:solidFill>
                  <a:schemeClr val="accent5">
                    <a:lumMod val="75000"/>
                  </a:schemeClr>
                </a:solidFill>
                <a:latin typeface="Maven Pro" panose="020B0604020202020204" charset="0"/>
              </a:rPr>
              <a:t>check_winner</a:t>
            </a:r>
            <a:r>
              <a:rPr lang="en-US" sz="1300" dirty="0">
                <a:solidFill>
                  <a:schemeClr val="accent5">
                    <a:lumMod val="75000"/>
                  </a:schemeClr>
                </a:solidFill>
                <a:latin typeface="Maven Pro" panose="020B0604020202020204" charset="0"/>
              </a:rPr>
              <a:t>(): check</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whether</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the</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game</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has</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a</a:t>
            </a:r>
            <a:r>
              <a:rPr lang="zh-CN" altLang="en-US" sz="1300" dirty="0">
                <a:solidFill>
                  <a:schemeClr val="accent5">
                    <a:lumMod val="75000"/>
                  </a:schemeClr>
                </a:solidFill>
                <a:latin typeface="Maven Pro" panose="020B0604020202020204" charset="0"/>
              </a:rPr>
              <a:t> </a:t>
            </a:r>
            <a:r>
              <a:rPr lang="en-US" altLang="zh-CN" sz="1300" dirty="0">
                <a:solidFill>
                  <a:schemeClr val="accent5">
                    <a:lumMod val="75000"/>
                  </a:schemeClr>
                </a:solidFill>
                <a:latin typeface="Maven Pro" panose="020B0604020202020204" charset="0"/>
              </a:rPr>
              <a:t>winner.</a:t>
            </a:r>
            <a:br>
              <a:rPr lang="en-US" sz="1300" dirty="0">
                <a:solidFill>
                  <a:schemeClr val="accent5">
                    <a:lumMod val="75000"/>
                  </a:schemeClr>
                </a:solidFill>
                <a:latin typeface="Maven Pro" panose="020B0604020202020204" charset="0"/>
              </a:rPr>
            </a:br>
            <a:r>
              <a:rPr lang="en-US" sz="1300" dirty="0">
                <a:solidFill>
                  <a:schemeClr val="accent5">
                    <a:lumMod val="75000"/>
                  </a:schemeClr>
                </a:solidFill>
                <a:latin typeface="Maven Pro" panose="020B0604020202020204" charset="0"/>
              </a:rPr>
              <a:t>3. </a:t>
            </a:r>
            <a:r>
              <a:rPr lang="en-US" sz="1300" dirty="0" err="1">
                <a:solidFill>
                  <a:schemeClr val="accent5">
                    <a:lumMod val="75000"/>
                  </a:schemeClr>
                </a:solidFill>
                <a:latin typeface="Maven Pro" panose="020B0604020202020204" charset="0"/>
              </a:rPr>
              <a:t>next_turn</a:t>
            </a:r>
            <a:r>
              <a:rPr lang="en-US" sz="1300" dirty="0">
                <a:solidFill>
                  <a:schemeClr val="accent5">
                    <a:lumMod val="75000"/>
                  </a:schemeClr>
                </a:solidFill>
                <a:latin typeface="Maven Pro" panose="020B0604020202020204" charset="0"/>
              </a:rPr>
              <a:t>(): give the next turn of a player.</a:t>
            </a:r>
            <a:br>
              <a:rPr lang="en-US" sz="1300" dirty="0">
                <a:solidFill>
                  <a:schemeClr val="accent5">
                    <a:lumMod val="75000"/>
                  </a:schemeClr>
                </a:solidFill>
                <a:latin typeface="Maven Pro" panose="020B0604020202020204" charset="0"/>
              </a:rPr>
            </a:br>
            <a:r>
              <a:rPr lang="en-US" sz="1300" dirty="0">
                <a:solidFill>
                  <a:schemeClr val="accent5">
                    <a:lumMod val="75000"/>
                  </a:schemeClr>
                </a:solidFill>
                <a:latin typeface="Maven Pro" panose="020B0604020202020204" charset="0"/>
              </a:rPr>
              <a:t>4. restart(): start a new round of the game.</a:t>
            </a:r>
          </a:p>
        </p:txBody>
      </p:sp>
      <p:sp>
        <p:nvSpPr>
          <p:cNvPr id="11" name="Google Shape;465;p26">
            <a:extLst>
              <a:ext uri="{FF2B5EF4-FFF2-40B4-BE49-F238E27FC236}">
                <a16:creationId xmlns:a16="http://schemas.microsoft.com/office/drawing/2014/main" id="{C4D841ED-C4ED-469A-96DB-05BB0126D302}"/>
              </a:ext>
            </a:extLst>
          </p:cNvPr>
          <p:cNvSpPr txBox="1">
            <a:spLocks/>
          </p:cNvSpPr>
          <p:nvPr/>
        </p:nvSpPr>
        <p:spPr>
          <a:xfrm>
            <a:off x="5116106" y="2025732"/>
            <a:ext cx="3627371" cy="30081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2100" algn="l" rtl="0">
              <a:lnSpc>
                <a:spcPct val="100000"/>
              </a:lnSpc>
              <a:spcBef>
                <a:spcPts val="0"/>
              </a:spcBef>
              <a:spcAft>
                <a:spcPts val="0"/>
              </a:spcAft>
              <a:buClr>
                <a:schemeClr val="lt1"/>
              </a:buClr>
              <a:buSzPts val="1000"/>
              <a:buFont typeface="Livvic Light"/>
              <a:buChar char="●"/>
              <a:defRPr sz="1200" b="0" i="0" u="none" strike="noStrike" cap="none">
                <a:solidFill>
                  <a:schemeClr val="lt1"/>
                </a:solidFill>
                <a:latin typeface="Maven Pro"/>
                <a:ea typeface="Maven Pro"/>
                <a:cs typeface="Maven Pro"/>
                <a:sym typeface="Maven Pro"/>
              </a:defRPr>
            </a:lvl1pPr>
            <a:lvl2pPr marL="914400" marR="0" lvl="1"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2pPr>
            <a:lvl3pPr marL="1371600" marR="0" lvl="2"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3pPr>
            <a:lvl4pPr marL="1828800" marR="0" lvl="3"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4pPr>
            <a:lvl5pPr marL="2286000" marR="0" lvl="4"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5pPr>
            <a:lvl6pPr marL="2743200" marR="0" lvl="5"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6pPr>
            <a:lvl7pPr marL="3200400" marR="0" lvl="6"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7pPr>
            <a:lvl8pPr marL="3657600" marR="0" lvl="7"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8pPr>
            <a:lvl9pPr marL="4114800" marR="0" lvl="8" indent="-292100" algn="l" rtl="0">
              <a:lnSpc>
                <a:spcPct val="115000"/>
              </a:lnSpc>
              <a:spcBef>
                <a:spcPts val="1600"/>
              </a:spcBef>
              <a:spcAft>
                <a:spcPts val="160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9pPr>
          </a:lstStyle>
          <a:p>
            <a:pPr marL="0" indent="0">
              <a:spcBef>
                <a:spcPts val="1600"/>
              </a:spcBef>
              <a:spcAft>
                <a:spcPts val="1600"/>
              </a:spcAft>
              <a:buFont typeface="Livvic Light"/>
              <a:buNone/>
            </a:pPr>
            <a:r>
              <a:rPr lang="zh-TW" altLang="en-US" sz="1300" dirty="0">
                <a:latin typeface="Maven Pro" panose="020B0604020202020204" charset="0"/>
              </a:rPr>
              <a:t>該程式首先使用 </a:t>
            </a:r>
            <a:r>
              <a:rPr lang="id-ID" altLang="zh-TW" sz="1300" dirty="0" err="1">
                <a:latin typeface="Maven Pro" panose="020B0604020202020204" charset="0"/>
              </a:rPr>
              <a:t>Tkinter</a:t>
            </a:r>
            <a:r>
              <a:rPr lang="id-ID" altLang="zh-TW" sz="1300" dirty="0">
                <a:latin typeface="Maven Pro" panose="020B0604020202020204" charset="0"/>
              </a:rPr>
              <a:t> </a:t>
            </a:r>
            <a:r>
              <a:rPr lang="zh-TW" altLang="en-US" sz="1300" dirty="0">
                <a:latin typeface="Maven Pro" panose="020B0604020202020204" charset="0"/>
              </a:rPr>
              <a:t>庫創建遊戲窗口。 然後，它利用隨機函數隨機化哪個玩家（</a:t>
            </a:r>
            <a:r>
              <a:rPr lang="id-ID" altLang="zh-TW" sz="1300" dirty="0">
                <a:latin typeface="Maven Pro" panose="020B0604020202020204" charset="0"/>
              </a:rPr>
              <a:t>X </a:t>
            </a:r>
            <a:r>
              <a:rPr lang="zh-TW" altLang="en-US" sz="1300" dirty="0">
                <a:latin typeface="Maven Pro" panose="020B0604020202020204" charset="0"/>
              </a:rPr>
              <a:t>或 </a:t>
            </a:r>
            <a:r>
              <a:rPr lang="id-ID" altLang="zh-TW" sz="1300" dirty="0">
                <a:latin typeface="Maven Pro" panose="020B0604020202020204" charset="0"/>
              </a:rPr>
              <a:t>O</a:t>
            </a:r>
            <a:r>
              <a:rPr lang="zh-TW" altLang="id-ID" sz="1300" dirty="0">
                <a:latin typeface="Maven Pro" panose="020B0604020202020204" charset="0"/>
              </a:rPr>
              <a:t>）</a:t>
            </a:r>
            <a:r>
              <a:rPr lang="zh-TW" altLang="en-US" sz="1300" dirty="0">
                <a:latin typeface="Maven Pro" panose="020B0604020202020204" charset="0"/>
              </a:rPr>
              <a:t>先走。在輪到每個玩家之前，程序通過檢查每個方塊中的標誌併計算剩餘空方塊的數量來檢查遊戲是否已經有贏家。</a:t>
            </a:r>
            <a:br>
              <a:rPr lang="en-US" altLang="zh-TW" sz="1300" dirty="0">
                <a:latin typeface="Maven Pro" panose="020B0604020202020204" charset="0"/>
              </a:rPr>
            </a:br>
            <a:r>
              <a:rPr lang="id-ID" altLang="zh-TW" sz="1300" dirty="0">
                <a:solidFill>
                  <a:schemeClr val="accent5">
                    <a:lumMod val="75000"/>
                  </a:schemeClr>
                </a:solidFill>
                <a:latin typeface="Maven Pro" panose="020B0604020202020204" charset="0"/>
              </a:rPr>
              <a:t>The program </a:t>
            </a:r>
            <a:r>
              <a:rPr lang="id-ID" altLang="zh-TW" sz="1300" dirty="0" err="1">
                <a:solidFill>
                  <a:schemeClr val="accent5">
                    <a:lumMod val="75000"/>
                  </a:schemeClr>
                </a:solidFill>
                <a:latin typeface="Maven Pro" panose="020B0604020202020204" charset="0"/>
              </a:rPr>
              <a:t>starts</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by</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creating</a:t>
            </a:r>
            <a:r>
              <a:rPr lang="id-ID" altLang="zh-TW" sz="1300" dirty="0">
                <a:solidFill>
                  <a:schemeClr val="accent5">
                    <a:lumMod val="75000"/>
                  </a:schemeClr>
                </a:solidFill>
                <a:latin typeface="Maven Pro" panose="020B0604020202020204" charset="0"/>
              </a:rPr>
              <a:t> a </a:t>
            </a:r>
            <a:r>
              <a:rPr lang="id-ID" altLang="zh-TW" sz="1300" dirty="0" err="1">
                <a:solidFill>
                  <a:schemeClr val="accent5">
                    <a:lumMod val="75000"/>
                  </a:schemeClr>
                </a:solidFill>
                <a:latin typeface="Maven Pro" panose="020B0604020202020204" charset="0"/>
              </a:rPr>
              <a:t>window</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of</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game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using</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Tkinter</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library</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Then</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it</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utilizes</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random</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function</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to</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randomize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which</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player</a:t>
            </a:r>
            <a:r>
              <a:rPr lang="id-ID" altLang="zh-TW" sz="1300" dirty="0">
                <a:solidFill>
                  <a:schemeClr val="accent5">
                    <a:lumMod val="75000"/>
                  </a:schemeClr>
                </a:solidFill>
                <a:latin typeface="Maven Pro" panose="020B0604020202020204" charset="0"/>
              </a:rPr>
              <a:t> (X </a:t>
            </a:r>
            <a:r>
              <a:rPr lang="id-ID" altLang="zh-TW" sz="1300" dirty="0" err="1">
                <a:solidFill>
                  <a:schemeClr val="accent5">
                    <a:lumMod val="75000"/>
                  </a:schemeClr>
                </a:solidFill>
                <a:latin typeface="Maven Pro" panose="020B0604020202020204" charset="0"/>
              </a:rPr>
              <a:t>or</a:t>
            </a:r>
            <a:r>
              <a:rPr lang="id-ID" altLang="zh-TW" sz="1300" dirty="0">
                <a:solidFill>
                  <a:schemeClr val="accent5">
                    <a:lumMod val="75000"/>
                  </a:schemeClr>
                </a:solidFill>
                <a:latin typeface="Maven Pro" panose="020B0604020202020204" charset="0"/>
              </a:rPr>
              <a:t> O) </a:t>
            </a:r>
            <a:r>
              <a:rPr lang="id-ID" altLang="zh-TW" sz="1300" dirty="0" err="1">
                <a:solidFill>
                  <a:schemeClr val="accent5">
                    <a:lumMod val="75000"/>
                  </a:schemeClr>
                </a:solidFill>
                <a:latin typeface="Maven Pro" panose="020B0604020202020204" charset="0"/>
              </a:rPr>
              <a:t>goes</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first</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Before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giving</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each</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player</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their</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turn</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program </a:t>
            </a:r>
            <a:r>
              <a:rPr lang="id-ID" altLang="zh-TW" sz="1300" dirty="0" err="1">
                <a:solidFill>
                  <a:schemeClr val="accent5">
                    <a:lumMod val="75000"/>
                  </a:schemeClr>
                </a:solidFill>
                <a:latin typeface="Maven Pro" panose="020B0604020202020204" charset="0"/>
              </a:rPr>
              <a:t>checks</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whether</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game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already</a:t>
            </a:r>
            <a:r>
              <a:rPr lang="id-ID" altLang="zh-TW" sz="1300" dirty="0">
                <a:solidFill>
                  <a:schemeClr val="accent5">
                    <a:lumMod val="75000"/>
                  </a:schemeClr>
                </a:solidFill>
                <a:latin typeface="Maven Pro" panose="020B0604020202020204" charset="0"/>
              </a:rPr>
              <a:t> has a </a:t>
            </a:r>
            <a:r>
              <a:rPr lang="id-ID" altLang="zh-TW" sz="1300" dirty="0" err="1">
                <a:solidFill>
                  <a:schemeClr val="accent5">
                    <a:lumMod val="75000"/>
                  </a:schemeClr>
                </a:solidFill>
                <a:latin typeface="Maven Pro" panose="020B0604020202020204" charset="0"/>
              </a:rPr>
              <a:t>winner</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yet</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by</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checking</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sign</a:t>
            </a:r>
            <a:r>
              <a:rPr lang="id-ID" altLang="zh-TW" sz="1300" dirty="0">
                <a:solidFill>
                  <a:schemeClr val="accent5">
                    <a:lumMod val="75000"/>
                  </a:schemeClr>
                </a:solidFill>
                <a:latin typeface="Maven Pro" panose="020B0604020202020204" charset="0"/>
              </a:rPr>
              <a:t> in </a:t>
            </a:r>
            <a:r>
              <a:rPr lang="id-ID" altLang="zh-TW" sz="1300" dirty="0" err="1">
                <a:solidFill>
                  <a:schemeClr val="accent5">
                    <a:lumMod val="75000"/>
                  </a:schemeClr>
                </a:solidFill>
                <a:latin typeface="Maven Pro" panose="020B0604020202020204" charset="0"/>
              </a:rPr>
              <a:t>each</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square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and</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counting</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the</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amount</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of</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empty</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squares</a:t>
            </a:r>
            <a:r>
              <a:rPr lang="id-ID" altLang="zh-TW" sz="1300" dirty="0">
                <a:solidFill>
                  <a:schemeClr val="accent5">
                    <a:lumMod val="75000"/>
                  </a:schemeClr>
                </a:solidFill>
                <a:latin typeface="Maven Pro" panose="020B0604020202020204" charset="0"/>
              </a:rPr>
              <a:t> </a:t>
            </a:r>
            <a:r>
              <a:rPr lang="id-ID" altLang="zh-TW" sz="1300" dirty="0" err="1">
                <a:solidFill>
                  <a:schemeClr val="accent5">
                    <a:lumMod val="75000"/>
                  </a:schemeClr>
                </a:solidFill>
                <a:latin typeface="Maven Pro" panose="020B0604020202020204" charset="0"/>
              </a:rPr>
              <a:t>left</a:t>
            </a:r>
            <a:r>
              <a:rPr lang="id-ID" altLang="zh-TW" sz="1300" dirty="0">
                <a:solidFill>
                  <a:schemeClr val="accent5">
                    <a:lumMod val="75000"/>
                  </a:schemeClr>
                </a:solidFill>
                <a:latin typeface="Maven Pro" panose="020B0604020202020204" charset="0"/>
              </a:rPr>
              <a:t>.</a:t>
            </a:r>
            <a:endParaRPr lang="en-US" sz="1300" dirty="0">
              <a:solidFill>
                <a:schemeClr val="accent5">
                  <a:lumMod val="75000"/>
                </a:schemeClr>
              </a:solidFill>
              <a:latin typeface="Maven Pro" panose="020B0604020202020204" charset="0"/>
            </a:endParaRPr>
          </a:p>
        </p:txBody>
      </p:sp>
      <p:pic>
        <p:nvPicPr>
          <p:cNvPr id="9" name="Picture 8">
            <a:extLst>
              <a:ext uri="{FF2B5EF4-FFF2-40B4-BE49-F238E27FC236}">
                <a16:creationId xmlns:a16="http://schemas.microsoft.com/office/drawing/2014/main" id="{AC04D2F6-1648-4C25-AE39-6B365ABEBD71}"/>
              </a:ext>
            </a:extLst>
          </p:cNvPr>
          <p:cNvPicPr>
            <a:picLocks noChangeAspect="1"/>
          </p:cNvPicPr>
          <p:nvPr/>
        </p:nvPicPr>
        <p:blipFill>
          <a:blip r:embed="rId4"/>
          <a:stretch>
            <a:fillRect/>
          </a:stretch>
        </p:blipFill>
        <p:spPr>
          <a:xfrm>
            <a:off x="731130" y="3158837"/>
            <a:ext cx="3296765" cy="17390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BCA47E-D1C2-453A-8066-5A4A91F1CD36}"/>
              </a:ext>
            </a:extLst>
          </p:cNvPr>
          <p:cNvPicPr>
            <a:picLocks noChangeAspect="1"/>
          </p:cNvPicPr>
          <p:nvPr/>
        </p:nvPicPr>
        <p:blipFill>
          <a:blip r:embed="rId2"/>
          <a:stretch>
            <a:fillRect/>
          </a:stretch>
        </p:blipFill>
        <p:spPr>
          <a:xfrm>
            <a:off x="363189" y="324952"/>
            <a:ext cx="2426479" cy="3059051"/>
          </a:xfrm>
          <a:prstGeom prst="rect">
            <a:avLst/>
          </a:prstGeom>
        </p:spPr>
      </p:pic>
      <p:pic>
        <p:nvPicPr>
          <p:cNvPr id="8" name="Picture 7">
            <a:extLst>
              <a:ext uri="{FF2B5EF4-FFF2-40B4-BE49-F238E27FC236}">
                <a16:creationId xmlns:a16="http://schemas.microsoft.com/office/drawing/2014/main" id="{F25725B2-320F-4770-9B63-EF46D73FAD07}"/>
              </a:ext>
            </a:extLst>
          </p:cNvPr>
          <p:cNvPicPr>
            <a:picLocks noChangeAspect="1"/>
          </p:cNvPicPr>
          <p:nvPr/>
        </p:nvPicPr>
        <p:blipFill rotWithShape="1">
          <a:blip r:embed="rId3"/>
          <a:srcRect l="1158" t="1" b="528"/>
          <a:stretch/>
        </p:blipFill>
        <p:spPr>
          <a:xfrm>
            <a:off x="6354329" y="324952"/>
            <a:ext cx="2426482" cy="3076835"/>
          </a:xfrm>
          <a:prstGeom prst="rect">
            <a:avLst/>
          </a:prstGeom>
        </p:spPr>
      </p:pic>
      <p:pic>
        <p:nvPicPr>
          <p:cNvPr id="10" name="Picture 9">
            <a:extLst>
              <a:ext uri="{FF2B5EF4-FFF2-40B4-BE49-F238E27FC236}">
                <a16:creationId xmlns:a16="http://schemas.microsoft.com/office/drawing/2014/main" id="{F920FE32-1BA3-465F-B2FD-299CCC36DE63}"/>
              </a:ext>
            </a:extLst>
          </p:cNvPr>
          <p:cNvPicPr>
            <a:picLocks noChangeAspect="1"/>
          </p:cNvPicPr>
          <p:nvPr/>
        </p:nvPicPr>
        <p:blipFill>
          <a:blip r:embed="rId4"/>
          <a:stretch>
            <a:fillRect/>
          </a:stretch>
        </p:blipFill>
        <p:spPr>
          <a:xfrm>
            <a:off x="3312189" y="1803355"/>
            <a:ext cx="2519619" cy="3157923"/>
          </a:xfrm>
          <a:prstGeom prst="rect">
            <a:avLst/>
          </a:prstGeom>
        </p:spPr>
      </p:pic>
      <p:sp>
        <p:nvSpPr>
          <p:cNvPr id="11" name="Google Shape;466;p26">
            <a:extLst>
              <a:ext uri="{FF2B5EF4-FFF2-40B4-BE49-F238E27FC236}">
                <a16:creationId xmlns:a16="http://schemas.microsoft.com/office/drawing/2014/main" id="{CF9F16B4-A8C7-4780-A2E0-83A8A41C4D3E}"/>
              </a:ext>
            </a:extLst>
          </p:cNvPr>
          <p:cNvSpPr txBox="1">
            <a:spLocks noGrp="1"/>
          </p:cNvSpPr>
          <p:nvPr>
            <p:ph type="ctrTitle"/>
          </p:nvPr>
        </p:nvSpPr>
        <p:spPr>
          <a:xfrm>
            <a:off x="3045054" y="324952"/>
            <a:ext cx="3053889"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zh-CN" altLang="en-US" sz="3200" b="1" dirty="0"/>
              <a:t>結果 </a:t>
            </a:r>
            <a:r>
              <a:rPr lang="en-US" altLang="zh-CN" sz="3200" b="1" dirty="0">
                <a:solidFill>
                  <a:schemeClr val="accent5">
                    <a:lumMod val="75000"/>
                  </a:schemeClr>
                </a:solidFill>
              </a:rPr>
              <a:t>Results</a:t>
            </a:r>
            <a:endParaRPr sz="3200" b="1" dirty="0">
              <a:solidFill>
                <a:schemeClr val="accent5">
                  <a:lumMod val="75000"/>
                </a:schemeClr>
              </a:solidFill>
            </a:endParaRPr>
          </a:p>
        </p:txBody>
      </p:sp>
      <p:sp>
        <p:nvSpPr>
          <p:cNvPr id="14" name="Google Shape;465;p26">
            <a:extLst>
              <a:ext uri="{FF2B5EF4-FFF2-40B4-BE49-F238E27FC236}">
                <a16:creationId xmlns:a16="http://schemas.microsoft.com/office/drawing/2014/main" id="{32E83061-5B91-47D5-A69D-D546FC411A21}"/>
              </a:ext>
            </a:extLst>
          </p:cNvPr>
          <p:cNvSpPr txBox="1">
            <a:spLocks noGrp="1"/>
          </p:cNvSpPr>
          <p:nvPr>
            <p:ph type="body" idx="1"/>
          </p:nvPr>
        </p:nvSpPr>
        <p:spPr>
          <a:xfrm>
            <a:off x="6040625" y="3609424"/>
            <a:ext cx="3053889" cy="1273450"/>
          </a:xfrm>
          <a:prstGeom prst="rect">
            <a:avLst/>
          </a:prstGeom>
        </p:spPr>
        <p:txBody>
          <a:bodyPr spcFirstLastPara="1" wrap="square" lIns="91425" tIns="91425" rIns="91425" bIns="91425" anchor="t" anchorCtr="0">
            <a:noAutofit/>
          </a:bodyPr>
          <a:lstStyle/>
          <a:p>
            <a:pPr marL="152400" indent="0">
              <a:buSzPts val="1200"/>
              <a:buNone/>
            </a:pPr>
            <a:r>
              <a:rPr lang="zh-CN" altLang="en-US" sz="1400" dirty="0"/>
              <a:t>還有一個重新開始按鈕，可以在玩家完成一輪後開始新一輪。 </a:t>
            </a:r>
            <a:br>
              <a:rPr lang="en-US" altLang="zh-CN" sz="1400" dirty="0"/>
            </a:br>
            <a:r>
              <a:rPr lang="en-US" sz="1400" dirty="0">
                <a:solidFill>
                  <a:schemeClr val="accent5">
                    <a:lumMod val="75000"/>
                  </a:schemeClr>
                </a:solidFill>
              </a:rPr>
              <a:t>There is also a restart button to start a new round after the players have finished a round.</a:t>
            </a:r>
            <a:r>
              <a:rPr lang="en-US" altLang="zh-TW" sz="1400" dirty="0">
                <a:solidFill>
                  <a:schemeClr val="accent5">
                    <a:lumMod val="75000"/>
                  </a:schemeClr>
                </a:solidFill>
              </a:rPr>
              <a:t> </a:t>
            </a:r>
            <a:endParaRPr lang="zh-CN" altLang="en-US" sz="1400" dirty="0">
              <a:solidFill>
                <a:schemeClr val="accent5">
                  <a:lumMod val="75000"/>
                </a:schemeClr>
              </a:solidFill>
            </a:endParaRPr>
          </a:p>
        </p:txBody>
      </p:sp>
      <p:sp>
        <p:nvSpPr>
          <p:cNvPr id="16" name="Google Shape;465;p26">
            <a:extLst>
              <a:ext uri="{FF2B5EF4-FFF2-40B4-BE49-F238E27FC236}">
                <a16:creationId xmlns:a16="http://schemas.microsoft.com/office/drawing/2014/main" id="{A8F2663A-4EAD-4D6A-8020-3648F614F0B3}"/>
              </a:ext>
            </a:extLst>
          </p:cNvPr>
          <p:cNvSpPr txBox="1">
            <a:spLocks/>
          </p:cNvSpPr>
          <p:nvPr/>
        </p:nvSpPr>
        <p:spPr>
          <a:xfrm>
            <a:off x="153891" y="3609424"/>
            <a:ext cx="3053889" cy="12734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2100" algn="l" rtl="0">
              <a:lnSpc>
                <a:spcPct val="100000"/>
              </a:lnSpc>
              <a:spcBef>
                <a:spcPts val="0"/>
              </a:spcBef>
              <a:spcAft>
                <a:spcPts val="0"/>
              </a:spcAft>
              <a:buClr>
                <a:schemeClr val="lt1"/>
              </a:buClr>
              <a:buSzPts val="1000"/>
              <a:buFont typeface="Livvic Light"/>
              <a:buChar char="●"/>
              <a:defRPr sz="1200" b="0" i="0" u="none" strike="noStrike" cap="none">
                <a:solidFill>
                  <a:schemeClr val="lt1"/>
                </a:solidFill>
                <a:latin typeface="Maven Pro"/>
                <a:ea typeface="Maven Pro"/>
                <a:cs typeface="Maven Pro"/>
                <a:sym typeface="Maven Pro"/>
              </a:defRPr>
            </a:lvl1pPr>
            <a:lvl2pPr marL="914400" marR="0" lvl="1"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2pPr>
            <a:lvl3pPr marL="1371600" marR="0" lvl="2"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3pPr>
            <a:lvl4pPr marL="1828800" marR="0" lvl="3"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4pPr>
            <a:lvl5pPr marL="2286000" marR="0" lvl="4"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5pPr>
            <a:lvl6pPr marL="2743200" marR="0" lvl="5"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6pPr>
            <a:lvl7pPr marL="3200400" marR="0" lvl="6"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7pPr>
            <a:lvl8pPr marL="3657600" marR="0" lvl="7" indent="-292100" algn="l" rtl="0">
              <a:lnSpc>
                <a:spcPct val="115000"/>
              </a:lnSpc>
              <a:spcBef>
                <a:spcPts val="1600"/>
              </a:spcBef>
              <a:spcAft>
                <a:spcPts val="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8pPr>
            <a:lvl9pPr marL="4114800" marR="0" lvl="8" indent="-292100" algn="l" rtl="0">
              <a:lnSpc>
                <a:spcPct val="115000"/>
              </a:lnSpc>
              <a:spcBef>
                <a:spcPts val="1600"/>
              </a:spcBef>
              <a:spcAft>
                <a:spcPts val="1600"/>
              </a:spcAft>
              <a:buClr>
                <a:schemeClr val="lt1"/>
              </a:buClr>
              <a:buSzPts val="1000"/>
              <a:buFont typeface="Nunito Light"/>
              <a:buChar char="■"/>
              <a:defRPr sz="1400" b="0" i="0" u="none" strike="noStrike" cap="none">
                <a:solidFill>
                  <a:schemeClr val="lt1"/>
                </a:solidFill>
                <a:latin typeface="Maven Pro"/>
                <a:ea typeface="Maven Pro"/>
                <a:cs typeface="Maven Pro"/>
                <a:sym typeface="Maven Pro"/>
              </a:defRPr>
            </a:lvl9pPr>
          </a:lstStyle>
          <a:p>
            <a:pPr marL="152400" indent="0">
              <a:buSzPts val="1200"/>
              <a:buFont typeface="Livvic Light"/>
              <a:buNone/>
            </a:pPr>
            <a:r>
              <a:rPr lang="zh-CN" altLang="en-US" sz="1400" dirty="0"/>
              <a:t>遊戲有 </a:t>
            </a:r>
            <a:r>
              <a:rPr lang="en-US" altLang="zh-CN" sz="1400" dirty="0"/>
              <a:t>3 </a:t>
            </a:r>
            <a:r>
              <a:rPr lang="zh-CN" altLang="en-US" sz="1400" dirty="0"/>
              <a:t>種可能的結果：玩家 </a:t>
            </a:r>
            <a:r>
              <a:rPr lang="id-ID" altLang="zh-CN" sz="1400" dirty="0"/>
              <a:t>O </a:t>
            </a:r>
            <a:r>
              <a:rPr lang="zh-CN" altLang="en-US" sz="1400" dirty="0"/>
              <a:t>獲勝、玩家 </a:t>
            </a:r>
            <a:r>
              <a:rPr lang="id-ID" altLang="zh-CN" sz="1400" dirty="0"/>
              <a:t>X </a:t>
            </a:r>
            <a:r>
              <a:rPr lang="zh-CN" altLang="en-US" sz="1400" dirty="0"/>
              <a:t>獲勝或平局。</a:t>
            </a:r>
          </a:p>
          <a:p>
            <a:pPr marL="152400" indent="0">
              <a:buSzPts val="1200"/>
              <a:buFont typeface="Livvic Light"/>
              <a:buNone/>
            </a:pPr>
            <a:r>
              <a:rPr lang="id-ID" altLang="zh-CN" sz="1400" dirty="0">
                <a:solidFill>
                  <a:schemeClr val="accent5">
                    <a:lumMod val="75000"/>
                  </a:schemeClr>
                </a:solidFill>
              </a:rPr>
              <a:t>The </a:t>
            </a:r>
            <a:r>
              <a:rPr lang="id-ID" altLang="zh-CN" sz="1400" dirty="0" err="1">
                <a:solidFill>
                  <a:schemeClr val="accent5">
                    <a:lumMod val="75000"/>
                  </a:schemeClr>
                </a:solidFill>
              </a:rPr>
              <a:t>game</a:t>
            </a:r>
            <a:r>
              <a:rPr lang="id-ID" altLang="zh-CN" sz="1400" dirty="0">
                <a:solidFill>
                  <a:schemeClr val="accent5">
                    <a:lumMod val="75000"/>
                  </a:schemeClr>
                </a:solidFill>
              </a:rPr>
              <a:t> has 3 </a:t>
            </a:r>
            <a:r>
              <a:rPr lang="id-ID" altLang="zh-CN" sz="1400" dirty="0" err="1">
                <a:solidFill>
                  <a:schemeClr val="accent5">
                    <a:lumMod val="75000"/>
                  </a:schemeClr>
                </a:solidFill>
              </a:rPr>
              <a:t>possible</a:t>
            </a:r>
            <a:r>
              <a:rPr lang="id-ID" altLang="zh-CN" sz="1400" dirty="0">
                <a:solidFill>
                  <a:schemeClr val="accent5">
                    <a:lumMod val="75000"/>
                  </a:schemeClr>
                </a:solidFill>
              </a:rPr>
              <a:t> </a:t>
            </a:r>
            <a:r>
              <a:rPr lang="id-ID" altLang="zh-CN" sz="1400" dirty="0" err="1">
                <a:solidFill>
                  <a:schemeClr val="accent5">
                    <a:lumMod val="75000"/>
                  </a:schemeClr>
                </a:solidFill>
              </a:rPr>
              <a:t>results</a:t>
            </a:r>
            <a:r>
              <a:rPr lang="id-ID" altLang="zh-CN" sz="1400" dirty="0">
                <a:solidFill>
                  <a:schemeClr val="accent5">
                    <a:lumMod val="75000"/>
                  </a:schemeClr>
                </a:solidFill>
              </a:rPr>
              <a:t>: </a:t>
            </a:r>
            <a:r>
              <a:rPr lang="en-US" altLang="zh-CN" sz="1400" dirty="0">
                <a:solidFill>
                  <a:schemeClr val="accent5">
                    <a:lumMod val="75000"/>
                  </a:schemeClr>
                </a:solidFill>
              </a:rPr>
              <a:t>Either p</a:t>
            </a:r>
            <a:r>
              <a:rPr lang="id-ID" altLang="zh-CN" sz="1400" dirty="0">
                <a:solidFill>
                  <a:schemeClr val="accent5">
                    <a:lumMod val="75000"/>
                  </a:schemeClr>
                </a:solidFill>
              </a:rPr>
              <a:t>layer O </a:t>
            </a:r>
            <a:r>
              <a:rPr lang="id-ID" altLang="zh-CN" sz="1400" dirty="0" err="1">
                <a:solidFill>
                  <a:schemeClr val="accent5">
                    <a:lumMod val="75000"/>
                  </a:schemeClr>
                </a:solidFill>
              </a:rPr>
              <a:t>wins</a:t>
            </a:r>
            <a:r>
              <a:rPr lang="id-ID" altLang="zh-CN" sz="1400" dirty="0">
                <a:solidFill>
                  <a:schemeClr val="accent5">
                    <a:lumMod val="75000"/>
                  </a:schemeClr>
                </a:solidFill>
              </a:rPr>
              <a:t>, </a:t>
            </a:r>
            <a:r>
              <a:rPr lang="id-ID" altLang="zh-CN" sz="1400" dirty="0" err="1">
                <a:solidFill>
                  <a:schemeClr val="accent5">
                    <a:lumMod val="75000"/>
                  </a:schemeClr>
                </a:solidFill>
              </a:rPr>
              <a:t>player</a:t>
            </a:r>
            <a:r>
              <a:rPr lang="id-ID" altLang="zh-CN" sz="1400" dirty="0">
                <a:solidFill>
                  <a:schemeClr val="accent5">
                    <a:lumMod val="75000"/>
                  </a:schemeClr>
                </a:solidFill>
              </a:rPr>
              <a:t> X </a:t>
            </a:r>
            <a:r>
              <a:rPr lang="id-ID" altLang="zh-CN" sz="1400" dirty="0" err="1">
                <a:solidFill>
                  <a:schemeClr val="accent5">
                    <a:lumMod val="75000"/>
                  </a:schemeClr>
                </a:solidFill>
              </a:rPr>
              <a:t>wins</a:t>
            </a:r>
            <a:r>
              <a:rPr lang="id-ID" altLang="zh-CN" sz="1400" dirty="0">
                <a:solidFill>
                  <a:schemeClr val="accent5">
                    <a:lumMod val="75000"/>
                  </a:schemeClr>
                </a:solidFill>
              </a:rPr>
              <a:t>, </a:t>
            </a:r>
            <a:r>
              <a:rPr lang="id-ID" altLang="zh-CN" sz="1400" dirty="0" err="1">
                <a:solidFill>
                  <a:schemeClr val="accent5">
                    <a:lumMod val="75000"/>
                  </a:schemeClr>
                </a:solidFill>
              </a:rPr>
              <a:t>or</a:t>
            </a:r>
            <a:r>
              <a:rPr lang="id-ID" altLang="zh-CN" sz="1400" dirty="0">
                <a:solidFill>
                  <a:schemeClr val="accent5">
                    <a:lumMod val="75000"/>
                  </a:schemeClr>
                </a:solidFill>
              </a:rPr>
              <a:t> </a:t>
            </a:r>
            <a:r>
              <a:rPr lang="id-ID" altLang="zh-CN" sz="1400" dirty="0" err="1">
                <a:solidFill>
                  <a:schemeClr val="accent5">
                    <a:lumMod val="75000"/>
                  </a:schemeClr>
                </a:solidFill>
              </a:rPr>
              <a:t>tie</a:t>
            </a:r>
            <a:r>
              <a:rPr lang="id-ID" altLang="zh-CN" sz="1400" dirty="0">
                <a:solidFill>
                  <a:schemeClr val="accent5">
                    <a:lumMod val="75000"/>
                  </a:schemeClr>
                </a:solidFill>
              </a:rPr>
              <a:t>.</a:t>
            </a:r>
            <a:endParaRPr lang="zh-CN" altLang="en-US" sz="1400" dirty="0">
              <a:solidFill>
                <a:schemeClr val="accent5">
                  <a:lumMod val="75000"/>
                </a:schemeClr>
              </a:solidFill>
            </a:endParaRPr>
          </a:p>
        </p:txBody>
      </p:sp>
    </p:spTree>
    <p:extLst>
      <p:ext uri="{BB962C8B-B14F-4D97-AF65-F5344CB8AC3E}">
        <p14:creationId xmlns:p14="http://schemas.microsoft.com/office/powerpoint/2010/main" val="738778589"/>
      </p:ext>
    </p:extLst>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746</Words>
  <Application>Microsoft Office PowerPoint</Application>
  <PresentationFormat>On-screen Show (16:9)</PresentationFormat>
  <Paragraphs>14</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Share Tech</vt:lpstr>
      <vt:lpstr>Livvic Light</vt:lpstr>
      <vt:lpstr>Nunito Light</vt:lpstr>
      <vt:lpstr>Maven Pro</vt:lpstr>
      <vt:lpstr>Arial</vt:lpstr>
      <vt:lpstr>Data Science Consulting by Slidesgo</vt:lpstr>
      <vt:lpstr>TIC-TAC-TOE GAME</vt:lpstr>
      <vt:lpstr>動機 Motivation</vt:lpstr>
      <vt:lpstr>功能 Functions</vt:lpstr>
      <vt:lpstr>程式說明 Program Description</vt:lpstr>
      <vt:lpstr>結果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TIC-TAC-TOE GAME</dc:title>
  <cp:lastModifiedBy>Ivanno Winoto</cp:lastModifiedBy>
  <cp:revision>5</cp:revision>
  <dcterms:modified xsi:type="dcterms:W3CDTF">2023-04-24T03:39:02Z</dcterms:modified>
</cp:coreProperties>
</file>